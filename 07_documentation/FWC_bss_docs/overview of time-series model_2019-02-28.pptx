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3" r:id="rId3"/>
    <p:sldId id="275" r:id="rId4"/>
    <p:sldId id="274" r:id="rId5"/>
    <p:sldId id="264" r:id="rId6"/>
    <p:sldId id="265" r:id="rId7"/>
    <p:sldId id="266" r:id="rId8"/>
    <p:sldId id="267" r:id="rId9"/>
    <p:sldId id="256" r:id="rId10"/>
    <p:sldId id="271" r:id="rId11"/>
    <p:sldId id="270" r:id="rId12"/>
    <p:sldId id="26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76658" autoAdjust="0"/>
  </p:normalViewPr>
  <p:slideViewPr>
    <p:cSldViewPr snapToGrid="0">
      <p:cViewPr varScale="1">
        <p:scale>
          <a:sx n="62" d="100"/>
          <a:sy n="62" d="100"/>
        </p:scale>
        <p:origin x="9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tley, Kale T (DFW)" userId="11aae39d-e486-45fe-b35a-ddb1940f948b" providerId="ADAL" clId="{DD6A69F9-9EE5-4C04-B124-AC2C83F4C381}"/>
    <pc:docChg chg="custSel delSld modSld">
      <pc:chgData name="Bentley, Kale T (DFW)" userId="11aae39d-e486-45fe-b35a-ddb1940f948b" providerId="ADAL" clId="{DD6A69F9-9EE5-4C04-B124-AC2C83F4C381}" dt="2021-01-13T23:12:28.980" v="28" actId="6549"/>
      <pc:docMkLst>
        <pc:docMk/>
      </pc:docMkLst>
      <pc:sldChg chg="delSp modNotesTx">
        <pc:chgData name="Bentley, Kale T (DFW)" userId="11aae39d-e486-45fe-b35a-ddb1940f948b" providerId="ADAL" clId="{DD6A69F9-9EE5-4C04-B124-AC2C83F4C381}" dt="2021-01-13T23:12:22.699" v="24" actId="6549"/>
        <pc:sldMkLst>
          <pc:docMk/>
          <pc:sldMk cId="3376091410" sldId="256"/>
        </pc:sldMkLst>
        <pc:spChg chg="del">
          <ac:chgData name="Bentley, Kale T (DFW)" userId="11aae39d-e486-45fe-b35a-ddb1940f948b" providerId="ADAL" clId="{DD6A69F9-9EE5-4C04-B124-AC2C83F4C381}" dt="2021-01-13T23:11:39.318" v="10" actId="478"/>
          <ac:spMkLst>
            <pc:docMk/>
            <pc:sldMk cId="3376091410" sldId="256"/>
            <ac:spMk id="5" creationId="{00000000-0000-0000-0000-000000000000}"/>
          </ac:spMkLst>
        </pc:spChg>
      </pc:sldChg>
      <pc:sldChg chg="delSp del">
        <pc:chgData name="Bentley, Kale T (DFW)" userId="11aae39d-e486-45fe-b35a-ddb1940f948b" providerId="ADAL" clId="{DD6A69F9-9EE5-4C04-B124-AC2C83F4C381}" dt="2021-01-13T23:11:17.249" v="3" actId="47"/>
        <pc:sldMkLst>
          <pc:docMk/>
          <pc:sldMk cId="728597748" sldId="257"/>
        </pc:sldMkLst>
        <pc:spChg chg="del">
          <ac:chgData name="Bentley, Kale T (DFW)" userId="11aae39d-e486-45fe-b35a-ddb1940f948b" providerId="ADAL" clId="{DD6A69F9-9EE5-4C04-B124-AC2C83F4C381}" dt="2021-01-13T23:11:06.575" v="0" actId="478"/>
          <ac:spMkLst>
            <pc:docMk/>
            <pc:sldMk cId="728597748" sldId="257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09.267" v="17" actId="6549"/>
        <pc:sldMkLst>
          <pc:docMk/>
          <pc:sldMk cId="2725445617" sldId="258"/>
        </pc:sldMkLst>
        <pc:spChg chg="del">
          <ac:chgData name="Bentley, Kale T (DFW)" userId="11aae39d-e486-45fe-b35a-ddb1940f948b" providerId="ADAL" clId="{DD6A69F9-9EE5-4C04-B124-AC2C83F4C381}" dt="2021-01-13T23:11:09.278" v="1" actId="478"/>
          <ac:spMkLst>
            <pc:docMk/>
            <pc:sldMk cId="2725445617" sldId="258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05.482" v="15" actId="6549"/>
        <pc:sldMkLst>
          <pc:docMk/>
          <pc:sldMk cId="2348724791" sldId="263"/>
        </pc:sldMkLst>
        <pc:spChg chg="del">
          <ac:chgData name="Bentley, Kale T (DFW)" userId="11aae39d-e486-45fe-b35a-ddb1940f948b" providerId="ADAL" clId="{DD6A69F9-9EE5-4C04-B124-AC2C83F4C381}" dt="2021-01-13T23:11:12.654" v="2" actId="478"/>
          <ac:spMkLst>
            <pc:docMk/>
            <pc:sldMk cId="2348724791" sldId="263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14.428" v="19" actId="6549"/>
        <pc:sldMkLst>
          <pc:docMk/>
          <pc:sldMk cId="4237558295" sldId="264"/>
        </pc:sldMkLst>
        <pc:spChg chg="del">
          <ac:chgData name="Bentley, Kale T (DFW)" userId="11aae39d-e486-45fe-b35a-ddb1940f948b" providerId="ADAL" clId="{DD6A69F9-9EE5-4C04-B124-AC2C83F4C381}" dt="2021-01-13T23:11:26.334" v="6" actId="478"/>
          <ac:spMkLst>
            <pc:docMk/>
            <pc:sldMk cId="4237558295" sldId="264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16.270" v="20" actId="6549"/>
        <pc:sldMkLst>
          <pc:docMk/>
          <pc:sldMk cId="3210351449" sldId="265"/>
        </pc:sldMkLst>
        <pc:spChg chg="del">
          <ac:chgData name="Bentley, Kale T (DFW)" userId="11aae39d-e486-45fe-b35a-ddb1940f948b" providerId="ADAL" clId="{DD6A69F9-9EE5-4C04-B124-AC2C83F4C381}" dt="2021-01-13T23:11:28.782" v="7" actId="478"/>
          <ac:spMkLst>
            <pc:docMk/>
            <pc:sldMk cId="3210351449" sldId="265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20.032" v="22" actId="6549"/>
        <pc:sldMkLst>
          <pc:docMk/>
          <pc:sldMk cId="222272648" sldId="266"/>
        </pc:sldMkLst>
        <pc:spChg chg="del">
          <ac:chgData name="Bentley, Kale T (DFW)" userId="11aae39d-e486-45fe-b35a-ddb1940f948b" providerId="ADAL" clId="{DD6A69F9-9EE5-4C04-B124-AC2C83F4C381}" dt="2021-01-13T23:11:34.375" v="8" actId="478"/>
          <ac:spMkLst>
            <pc:docMk/>
            <pc:sldMk cId="222272648" sldId="266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21.388" v="23" actId="6549"/>
        <pc:sldMkLst>
          <pc:docMk/>
          <pc:sldMk cId="2235099998" sldId="267"/>
        </pc:sldMkLst>
        <pc:spChg chg="del">
          <ac:chgData name="Bentley, Kale T (DFW)" userId="11aae39d-e486-45fe-b35a-ddb1940f948b" providerId="ADAL" clId="{DD6A69F9-9EE5-4C04-B124-AC2C83F4C381}" dt="2021-01-13T23:11:37.030" v="9" actId="478"/>
          <ac:spMkLst>
            <pc:docMk/>
            <pc:sldMk cId="2235099998" sldId="267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26.963" v="27" actId="6549"/>
        <pc:sldMkLst>
          <pc:docMk/>
          <pc:sldMk cId="3197442220" sldId="269"/>
        </pc:sldMkLst>
        <pc:spChg chg="del">
          <ac:chgData name="Bentley, Kale T (DFW)" userId="11aae39d-e486-45fe-b35a-ddb1940f948b" providerId="ADAL" clId="{DD6A69F9-9EE5-4C04-B124-AC2C83F4C381}" dt="2021-01-13T23:11:49.986" v="13" actId="478"/>
          <ac:spMkLst>
            <pc:docMk/>
            <pc:sldMk cId="3197442220" sldId="269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25.631" v="26" actId="6549"/>
        <pc:sldMkLst>
          <pc:docMk/>
          <pc:sldMk cId="3235085397" sldId="270"/>
        </pc:sldMkLst>
        <pc:spChg chg="del">
          <ac:chgData name="Bentley, Kale T (DFW)" userId="11aae39d-e486-45fe-b35a-ddb1940f948b" providerId="ADAL" clId="{DD6A69F9-9EE5-4C04-B124-AC2C83F4C381}" dt="2021-01-13T23:11:46.559" v="12" actId="478"/>
          <ac:spMkLst>
            <pc:docMk/>
            <pc:sldMk cId="3235085397" sldId="270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24.437" v="25" actId="6549"/>
        <pc:sldMkLst>
          <pc:docMk/>
          <pc:sldMk cId="3081838107" sldId="271"/>
        </pc:sldMkLst>
        <pc:spChg chg="del">
          <ac:chgData name="Bentley, Kale T (DFW)" userId="11aae39d-e486-45fe-b35a-ddb1940f948b" providerId="ADAL" clId="{DD6A69F9-9EE5-4C04-B124-AC2C83F4C381}" dt="2021-01-13T23:11:42.639" v="11" actId="478"/>
          <ac:spMkLst>
            <pc:docMk/>
            <pc:sldMk cId="3081838107" sldId="271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28.980" v="28" actId="6549"/>
        <pc:sldMkLst>
          <pc:docMk/>
          <pc:sldMk cId="585949056" sldId="273"/>
        </pc:sldMkLst>
        <pc:spChg chg="del">
          <ac:chgData name="Bentley, Kale T (DFW)" userId="11aae39d-e486-45fe-b35a-ddb1940f948b" providerId="ADAL" clId="{DD6A69F9-9EE5-4C04-B124-AC2C83F4C381}" dt="2021-01-13T23:11:53.463" v="14" actId="478"/>
          <ac:spMkLst>
            <pc:docMk/>
            <pc:sldMk cId="585949056" sldId="273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12.692" v="18" actId="6549"/>
        <pc:sldMkLst>
          <pc:docMk/>
          <pc:sldMk cId="3838972066" sldId="274"/>
        </pc:sldMkLst>
        <pc:spChg chg="del">
          <ac:chgData name="Bentley, Kale T (DFW)" userId="11aae39d-e486-45fe-b35a-ddb1940f948b" providerId="ADAL" clId="{DD6A69F9-9EE5-4C04-B124-AC2C83F4C381}" dt="2021-01-13T23:11:23.630" v="5" actId="478"/>
          <ac:spMkLst>
            <pc:docMk/>
            <pc:sldMk cId="3838972066" sldId="274"/>
            <ac:spMk id="5" creationId="{00000000-0000-0000-0000-000000000000}"/>
          </ac:spMkLst>
        </pc:spChg>
      </pc:sldChg>
      <pc:sldChg chg="delSp modNotesTx">
        <pc:chgData name="Bentley, Kale T (DFW)" userId="11aae39d-e486-45fe-b35a-ddb1940f948b" providerId="ADAL" clId="{DD6A69F9-9EE5-4C04-B124-AC2C83F4C381}" dt="2021-01-13T23:12:07.157" v="16" actId="6549"/>
        <pc:sldMkLst>
          <pc:docMk/>
          <pc:sldMk cId="3624142271" sldId="275"/>
        </pc:sldMkLst>
        <pc:spChg chg="del">
          <ac:chgData name="Bentley, Kale T (DFW)" userId="11aae39d-e486-45fe-b35a-ddb1940f948b" providerId="ADAL" clId="{DD6A69F9-9EE5-4C04-B124-AC2C83F4C381}" dt="2021-01-13T23:11:21.148" v="4" actId="478"/>
          <ac:spMkLst>
            <pc:docMk/>
            <pc:sldMk cId="3624142271" sldId="27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F1B33-E124-4309-8DA8-9D46289F06C1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9E32A-7D6E-44E4-9685-35CC192FF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4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21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2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36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01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50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82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36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1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32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56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65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7A2D7-2D9B-4690-BCDA-F1CAC40BFF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65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3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82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6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0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6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8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7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8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7B66-C816-4684-8D61-22C83031C5B5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698F7-93DE-4702-89BC-B56068328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6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177702" y="4158098"/>
            <a:ext cx="4697124" cy="2355129"/>
            <a:chOff x="4180175" y="4502871"/>
            <a:chExt cx="3645694" cy="144040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/>
            <a:srcRect b="51983"/>
            <a:stretch/>
          </p:blipFill>
          <p:spPr>
            <a:xfrm>
              <a:off x="4180175" y="4502871"/>
              <a:ext cx="3645694" cy="1080511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3"/>
            <a:srcRect t="84007"/>
            <a:stretch/>
          </p:blipFill>
          <p:spPr>
            <a:xfrm>
              <a:off x="4180175" y="5583382"/>
              <a:ext cx="3645694" cy="359897"/>
            </a:xfrm>
            <a:prstGeom prst="rect">
              <a:avLst/>
            </a:prstGeom>
          </p:spPr>
        </p:pic>
      </p:grp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75161" y="3008457"/>
            <a:ext cx="7886700" cy="708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Bayesian, state-space, time-series creel survey model</a:t>
            </a:r>
          </a:p>
          <a:p>
            <a:pPr lvl="1"/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 rot="16677600">
            <a:off x="2513621" y="3837152"/>
            <a:ext cx="824681" cy="30581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4869135">
            <a:off x="4162311" y="2424599"/>
            <a:ext cx="824681" cy="30581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5047537">
            <a:off x="5977305" y="3753972"/>
            <a:ext cx="824681" cy="30581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140" y="4502872"/>
            <a:ext cx="2688003" cy="201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631300" y="1388412"/>
            <a:ext cx="7886700" cy="70802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Process Error (true variation)</a:t>
            </a:r>
            <a:br>
              <a:rPr lang="en-US" dirty="0">
                <a:ln>
                  <a:solidFill>
                    <a:schemeClr val="tx1"/>
                  </a:solidFill>
                </a:ln>
                <a:solidFill>
                  <a:schemeClr val="accent2"/>
                </a:solidFill>
              </a:rPr>
            </a:b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vs. </a:t>
            </a:r>
            <a:br>
              <a:rPr lang="en-US" dirty="0">
                <a:ln>
                  <a:solidFill>
                    <a:schemeClr val="tx1"/>
                  </a:solidFill>
                </a:ln>
                <a:solidFill>
                  <a:schemeClr val="accent2"/>
                </a:solidFill>
              </a:rPr>
            </a:br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Observation Error (observed minus true)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44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p:sp>
        <p:nvSpPr>
          <p:cNvPr id="14" name="Rectangle 13"/>
          <p:cNvSpPr/>
          <p:nvPr/>
        </p:nvSpPr>
        <p:spPr>
          <a:xfrm>
            <a:off x="139744" y="1389286"/>
            <a:ext cx="2220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935960" y="1508706"/>
            <a:ext cx="2884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  <a:p>
            <a:r>
              <a:rPr lang="en-US" dirty="0"/>
              <a:t>V = vehicle</a:t>
            </a:r>
          </a:p>
          <a:p>
            <a:r>
              <a:rPr lang="en-US" dirty="0"/>
              <a:t>T = Trailer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67473" y="1844972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5892" y="1464629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Census Effort Count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516275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8960" y="1321752"/>
            <a:ext cx="149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Average Hourly Effort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7412497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91187" y="1463205"/>
            <a:ext cx="261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 Residual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268546" y="3572949"/>
                <a:ext cx="9617305" cy="927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p>
                        </m:e>
                      </m:nary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546" y="3572949"/>
                <a:ext cx="9617305" cy="927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4131489" y="3321162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96481" y="2657790"/>
            <a:ext cx="20791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Vehicle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Count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(data)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707679" y="3273143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534789" y="3249743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80931" y="2566549"/>
            <a:ext cx="2618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Effort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Residual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7596" y="2473751"/>
            <a:ext cx="14946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Average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Hourly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0696" y="2432391"/>
            <a:ext cx="1837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Proportion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of Anglers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Vehicles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7416529" y="3271513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20449" y="2442781"/>
            <a:ext cx="1837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Bias term (how many more or less vehicles are counted relative to expected)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8048626" y="329236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1247637" y="5387280"/>
                <a:ext cx="9617305" cy="927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637" y="5387280"/>
                <a:ext cx="9617305" cy="927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/>
          <p:nvPr/>
        </p:nvCxnSpPr>
        <p:spPr>
          <a:xfrm>
            <a:off x="4110580" y="5165011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875572" y="4501639"/>
            <a:ext cx="20791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Trailer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Count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(data)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5686770" y="511699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6513880" y="509359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60022" y="4410398"/>
            <a:ext cx="2618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Effort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Residual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6687" y="4317600"/>
            <a:ext cx="14946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Average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Hourly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9787" y="4276240"/>
            <a:ext cx="1837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Proportion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of Anglers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Trailers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7395620" y="511536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799540" y="4243086"/>
            <a:ext cx="1837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Bias term (how many more or less trailers are counted relative to expected)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027717" y="513621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72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66546" y="91261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p:sp>
        <p:nvSpPr>
          <p:cNvPr id="14" name="Rectangle 13"/>
          <p:cNvSpPr/>
          <p:nvPr/>
        </p:nvSpPr>
        <p:spPr>
          <a:xfrm>
            <a:off x="104504" y="1771016"/>
            <a:ext cx="2220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268546" y="2522004"/>
                <a:ext cx="9617305" cy="397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Binomial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546" y="2522004"/>
                <a:ext cx="9617305" cy="397545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0885851" y="1378649"/>
            <a:ext cx="2884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  <a:p>
            <a:r>
              <a:rPr lang="en-US" dirty="0"/>
              <a:t>V = vehicle</a:t>
            </a:r>
          </a:p>
          <a:p>
            <a:r>
              <a:rPr lang="en-US" dirty="0"/>
              <a:t>T = Trailer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917006" y="2179962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70652" y="1846359"/>
            <a:ext cx="2079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Angler Group number of Vehicles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481035" y="215691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982034" y="2146450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99144" y="1401683"/>
            <a:ext cx="2618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Number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of Anglers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in Group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6512" y="1293961"/>
            <a:ext cx="1837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Proportion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of Anglers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Vehicles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268546" y="4374497"/>
                <a:ext cx="9617305" cy="397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Binomial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546" y="4374497"/>
                <a:ext cx="9617305" cy="397545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>
            <a:off x="4917006" y="4032455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70652" y="3698852"/>
            <a:ext cx="2079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Angler Group number of Trailers (data)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481035" y="4009404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982034" y="3998943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99144" y="3254176"/>
            <a:ext cx="2618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Number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of Anglers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in Group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6512" y="3146454"/>
            <a:ext cx="1837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Proportion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of Anglers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with </a:t>
            </a:r>
          </a:p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Trailers</a:t>
            </a:r>
          </a:p>
        </p:txBody>
      </p:sp>
    </p:spTree>
    <p:extLst>
      <p:ext uri="{BB962C8B-B14F-4D97-AF65-F5344CB8AC3E}">
        <p14:creationId xmlns:p14="http://schemas.microsoft.com/office/powerpoint/2010/main" val="362414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p:sp>
        <p:nvSpPr>
          <p:cNvPr id="14" name="Rectangle 13"/>
          <p:cNvSpPr/>
          <p:nvPr/>
        </p:nvSpPr>
        <p:spPr>
          <a:xfrm>
            <a:off x="427487" y="2048745"/>
            <a:ext cx="2105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634718" y="2862140"/>
            <a:ext cx="2884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67473" y="1844972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5892" y="1464629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Census Effort Count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516275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8960" y="1321752"/>
            <a:ext cx="149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Average Hourly Effort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7412497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91187" y="1463205"/>
            <a:ext cx="261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 Residual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487" y="2390213"/>
            <a:ext cx="30465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*likelihoods for index effort counts not shown</a:t>
            </a:r>
          </a:p>
        </p:txBody>
      </p:sp>
    </p:spTree>
    <p:extLst>
      <p:ext uri="{BB962C8B-B14F-4D97-AF65-F5344CB8AC3E}">
        <p14:creationId xmlns:p14="http://schemas.microsoft.com/office/powerpoint/2010/main" val="383897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p:sp>
        <p:nvSpPr>
          <p:cNvPr id="6" name="TextBox 5"/>
          <p:cNvSpPr txBox="1"/>
          <p:nvPr/>
        </p:nvSpPr>
        <p:spPr>
          <a:xfrm>
            <a:off x="427487" y="322902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7" y="2048745"/>
            <a:ext cx="2105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634718" y="2862140"/>
            <a:ext cx="2884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13045" y="1772406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5892" y="1464629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Census Effort Count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516275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8960" y="1321752"/>
            <a:ext cx="149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Average Hourly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Gamma</m:t>
                      </m:r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  <a:blipFill>
                <a:blip r:embed="rId4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6622805" y="277697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76260" y="2527654"/>
            <a:ext cx="460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Overdispersion parameter for within-day effort variability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297720" y="276608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456040" y="1763034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66273" y="1453157"/>
            <a:ext cx="261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 Residual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487" y="2390213"/>
            <a:ext cx="30465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*likelihoods for vehicles, trailers, and vehicles and trailers per angler are3 not shown</a:t>
            </a:r>
          </a:p>
        </p:txBody>
      </p:sp>
    </p:spTree>
    <p:extLst>
      <p:ext uri="{BB962C8B-B14F-4D97-AF65-F5344CB8AC3E}">
        <p14:creationId xmlns:p14="http://schemas.microsoft.com/office/powerpoint/2010/main" val="423755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p:sp>
        <p:nvSpPr>
          <p:cNvPr id="6" name="TextBox 5"/>
          <p:cNvSpPr txBox="1"/>
          <p:nvPr/>
        </p:nvSpPr>
        <p:spPr>
          <a:xfrm>
            <a:off x="427487" y="322902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7" y="2048745"/>
            <a:ext cx="2105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634718" y="2862140"/>
            <a:ext cx="2884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34817" y="1772406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5892" y="1464629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Census Effort Count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516275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8960" y="1321752"/>
            <a:ext cx="149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Average Hourly Effort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Gamma</m:t>
                      </m:r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  <a:blipFill>
                <a:blip r:embed="rId5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6622805" y="277697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76260" y="2527654"/>
            <a:ext cx="460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Overdispersion parameter for within-day effort variability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297720" y="276608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333633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51755" y="1421050"/>
            <a:ext cx="261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 Residual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487" y="2390213"/>
            <a:ext cx="30465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*likelihoods for index effort counts not shown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499757" y="4362227"/>
                <a:ext cx="9168243" cy="464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1 ×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757" y="4362227"/>
                <a:ext cx="9168243" cy="464101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5179581" y="400871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86226" y="3728451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Seasonal mean effort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164034" y="4003570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63463" y="3720405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daily effort residual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5705" y="3695700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weekend effect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7372348" y="3992686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06109" y="3695700"/>
            <a:ext cx="1728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weekend indicator variable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8156120" y="399268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35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21917" y="5478187"/>
                <a:ext cx="9119756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17" y="5478187"/>
                <a:ext cx="9119756" cy="426912"/>
              </a:xfrm>
              <a:prstGeom prst="rect">
                <a:avLst/>
              </a:prstGeom>
              <a:blipFill>
                <a:blip r:embed="rId4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27487" y="322902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7" y="2048745"/>
            <a:ext cx="2105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634718" y="2862140"/>
            <a:ext cx="2884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36845" y="1772406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5892" y="1464629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Census Effort Count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516275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8960" y="1321752"/>
            <a:ext cx="149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Average Hourly Effort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5506164" y="512986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28508" y="4883805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 AR1 coefficient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580030" y="5129861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37171" y="4877473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 process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Gamma</m:t>
                      </m:r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  <a:blipFill>
                <a:blip r:embed="rId6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6622805" y="277697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76260" y="2527654"/>
            <a:ext cx="460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Overdispersion parameter for within-day effort variability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297720" y="276608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401612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977256" y="1452382"/>
            <a:ext cx="261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 Residual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487" y="2390213"/>
            <a:ext cx="30465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*likelihoods for index effort counts not shown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499757" y="4362227"/>
                <a:ext cx="9168243" cy="464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1 ×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757" y="4362227"/>
                <a:ext cx="9168243" cy="464101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5179581" y="400871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6226" y="3728451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Seasonal mean effort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164034" y="4003570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63463" y="3720405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daily effort residual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5705" y="3695700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weekend effect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7372348" y="3992686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906109" y="3695700"/>
            <a:ext cx="1728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weekend indicator variable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8156120" y="399268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72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</a:t>
            </a:r>
            <a:r>
              <a:rPr lang="en-US" sz="2800" dirty="0">
                <a:solidFill>
                  <a:srgbClr val="FFC000"/>
                </a:solidFill>
              </a:rPr>
              <a:t>Effort</a:t>
            </a:r>
            <a:r>
              <a:rPr lang="en-US" sz="2800" dirty="0"/>
              <a:t>  X  CPUE</a:t>
            </a:r>
            <a:endParaRPr lang="en-US" sz="2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99757" y="4362227"/>
                <a:ext cx="9168243" cy="464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1 ×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757" y="4362227"/>
                <a:ext cx="9168243" cy="464101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21917" y="5478187"/>
                <a:ext cx="9119756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17" y="5478187"/>
                <a:ext cx="9119756" cy="426912"/>
              </a:xfrm>
              <a:prstGeom prst="rect">
                <a:avLst/>
              </a:prstGeom>
              <a:blipFill>
                <a:blip r:embed="rId4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77092" y="6433332"/>
                <a:ext cx="9144000" cy="412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ormal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092" y="6433332"/>
                <a:ext cx="9144000" cy="412036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27487" y="322902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7" y="2048745"/>
            <a:ext cx="2105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86" y="2140274"/>
                <a:ext cx="9617305" cy="426912"/>
              </a:xfrm>
              <a:prstGeom prst="rect">
                <a:avLst/>
              </a:prstGeom>
              <a:blipFill>
                <a:blip r:embed="rId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5179581" y="400871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34718" y="2862140"/>
            <a:ext cx="2884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6226" y="3728451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Seasonal mean effort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613045" y="1785493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9" y="1507192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Census Effort Count (data)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164034" y="4003570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163463" y="3720405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daily effort residual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516275" y="177518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8960" y="1321752"/>
            <a:ext cx="149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Daily Average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5506164" y="5129861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28508" y="4883805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 AR1 coefficient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580030" y="5129861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37171" y="4877473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 process error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7032730" y="6190044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0322" y="5944082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Effort Process Error 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Gamma</m:t>
                      </m:r>
                      <m: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h𝑜𝑢𝑟</m:t>
                          </m:r>
                        </m:sup>
                      </m:s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14" y="3109321"/>
                <a:ext cx="9168243" cy="452047"/>
              </a:xfrm>
              <a:prstGeom prst="rect">
                <a:avLst/>
              </a:prstGeom>
              <a:blipFill>
                <a:blip r:embed="rId7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6622805" y="2776972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76260" y="2527654"/>
            <a:ext cx="460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Overdispersion parameter for within-day effort variability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7297720" y="276608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402736" y="173361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24593" y="1453534"/>
            <a:ext cx="261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Hourly Effort Residual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487" y="2390213"/>
            <a:ext cx="30465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*likelihoods for index effort counts not shown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5705" y="3695700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weekend effect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372348" y="3992686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06109" y="3695700"/>
            <a:ext cx="1728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weekend indicator variable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8156120" y="399268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09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Effort  X  </a:t>
            </a:r>
            <a:r>
              <a:rPr lang="en-US" sz="2800" dirty="0">
                <a:solidFill>
                  <a:srgbClr val="FFC000"/>
                </a:solidFill>
              </a:rPr>
              <a:t>CPUE</a:t>
            </a:r>
            <a:endParaRPr lang="en-US" sz="2800" baseline="-25000" dirty="0">
              <a:solidFill>
                <a:srgbClr val="FFC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1000" y="2224015"/>
            <a:ext cx="1989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208314" y="2326537"/>
                <a:ext cx="9144000" cy="429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Negative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Binomial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h𝑟𝑠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314" y="2326537"/>
                <a:ext cx="9144000" cy="429541"/>
              </a:xfrm>
              <a:prstGeom prst="rect">
                <a:avLst/>
              </a:prstGeom>
              <a:blipFill>
                <a:blip r:embed="rId3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634718" y="2862140"/>
            <a:ext cx="2557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403272" y="1965011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2157" y="1639710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angler catch (data)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875908" y="1971128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54611" y="1658259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CPUE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802036" y="195747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92438" y="1648626"/>
            <a:ext cx="3192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angler hours fished (data; used as offset)</a:t>
            </a:r>
          </a:p>
        </p:txBody>
      </p:sp>
    </p:spTree>
    <p:extLst>
      <p:ext uri="{BB962C8B-B14F-4D97-AF65-F5344CB8AC3E}">
        <p14:creationId xmlns:p14="http://schemas.microsoft.com/office/powerpoint/2010/main" val="337609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Effort  X  </a:t>
            </a:r>
            <a:r>
              <a:rPr lang="en-US" sz="2800" dirty="0">
                <a:solidFill>
                  <a:srgbClr val="FFC000"/>
                </a:solidFill>
              </a:rPr>
              <a:t>CPUE</a:t>
            </a:r>
            <a:endParaRPr lang="en-US" sz="2800" baseline="-25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43023" y="3444469"/>
                <a:ext cx="9168243" cy="467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023" y="3444469"/>
                <a:ext cx="9168243" cy="467051"/>
              </a:xfrm>
              <a:prstGeom prst="rect">
                <a:avLst/>
              </a:prstGeom>
              <a:blipFill>
                <a:blip r:embed="rId3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27487" y="346230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224015"/>
            <a:ext cx="1989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208314" y="2326537"/>
                <a:ext cx="9144000" cy="429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Negative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Binomial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h𝑟𝑠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314" y="2326537"/>
                <a:ext cx="9144000" cy="429541"/>
              </a:xfrm>
              <a:prstGeom prst="rect">
                <a:avLst/>
              </a:prstGeom>
              <a:blipFill>
                <a:blip r:embed="rId4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5836645" y="3135440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34718" y="2862140"/>
            <a:ext cx="2557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4395" y="2822571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Seasonal mean CPUE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403272" y="1965011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2157" y="1639710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angler catch (data)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978894" y="3143434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75062" y="2823942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daily CPUE residual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875908" y="1971128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54611" y="1658259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CPUE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802036" y="195747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92438" y="1648626"/>
            <a:ext cx="3192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angler hours fished (data; used as offset)</a:t>
            </a:r>
          </a:p>
        </p:txBody>
      </p:sp>
    </p:spTree>
    <p:extLst>
      <p:ext uri="{BB962C8B-B14F-4D97-AF65-F5344CB8AC3E}">
        <p14:creationId xmlns:p14="http://schemas.microsoft.com/office/powerpoint/2010/main" val="3081838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9675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Effort  X  </a:t>
            </a:r>
            <a:r>
              <a:rPr lang="en-US" sz="2800" dirty="0">
                <a:solidFill>
                  <a:srgbClr val="FFC000"/>
                </a:solidFill>
              </a:rPr>
              <a:t>CPUE</a:t>
            </a:r>
            <a:endParaRPr lang="en-US" sz="2800" baseline="-25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43023" y="3444469"/>
                <a:ext cx="9168243" cy="467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023" y="3444469"/>
                <a:ext cx="9168243" cy="467051"/>
              </a:xfrm>
              <a:prstGeom prst="rect">
                <a:avLst/>
              </a:prstGeom>
              <a:blipFill>
                <a:blip r:embed="rId3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65460" y="4738020"/>
                <a:ext cx="9119756" cy="415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460" y="4738020"/>
                <a:ext cx="9119756" cy="415435"/>
              </a:xfrm>
              <a:prstGeom prst="rect">
                <a:avLst/>
              </a:prstGeom>
              <a:blipFill>
                <a:blip r:embed="rId4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27487" y="346230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224015"/>
            <a:ext cx="1989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208314" y="2326537"/>
                <a:ext cx="9144000" cy="429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Negative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Binomial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h𝑟𝑠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314" y="2326537"/>
                <a:ext cx="9144000" cy="429541"/>
              </a:xfrm>
              <a:prstGeom prst="rect">
                <a:avLst/>
              </a:prstGeom>
              <a:blipFill>
                <a:blip r:embed="rId5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5836645" y="3135440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34718" y="2862140"/>
            <a:ext cx="2557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4395" y="2822571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Seasonal mean CPUE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403272" y="1965011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2157" y="1639710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angler catch (data)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978894" y="3143434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75062" y="2823942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daily CPUE residual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875908" y="1971128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54611" y="1658259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CPUE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802036" y="195747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92438" y="1648626"/>
            <a:ext cx="3192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angler hours fished (data; used as offset)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5539950" y="4381186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62294" y="4135130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CPUE AR1 coefficient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613816" y="4381186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70957" y="4128798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CPUE process error</a:t>
            </a:r>
          </a:p>
        </p:txBody>
      </p:sp>
    </p:spTree>
    <p:extLst>
      <p:ext uri="{BB962C8B-B14F-4D97-AF65-F5344CB8AC3E}">
        <p14:creationId xmlns:p14="http://schemas.microsoft.com/office/powerpoint/2010/main" val="323508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99757" y="73889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Catch = Effort  X  </a:t>
            </a:r>
            <a:r>
              <a:rPr lang="en-US" sz="2800" dirty="0">
                <a:solidFill>
                  <a:srgbClr val="FFC000"/>
                </a:solidFill>
              </a:rPr>
              <a:t>CPUE</a:t>
            </a:r>
            <a:endParaRPr lang="en-US" sz="2800" baseline="-25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193694" y="2954678"/>
                <a:ext cx="9168243" cy="467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Sup>
                        <m:sSubSup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694" y="2954678"/>
                <a:ext cx="9168243" cy="467051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85388" y="4021038"/>
                <a:ext cx="9119756" cy="415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88" y="4021038"/>
                <a:ext cx="9119756" cy="415435"/>
              </a:xfrm>
              <a:prstGeom prst="rect">
                <a:avLst/>
              </a:prstGeom>
              <a:blipFill>
                <a:blip r:embed="rId4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57300" y="4942524"/>
                <a:ext cx="9144000" cy="429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ormal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4942524"/>
                <a:ext cx="9144000" cy="429541"/>
              </a:xfrm>
              <a:prstGeom prst="rect">
                <a:avLst/>
              </a:prstGeom>
              <a:blipFill>
                <a:blip r:embed="rId5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04981" y="3042484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87" y="1886565"/>
            <a:ext cx="1989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Observation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499757" y="1932203"/>
                <a:ext cx="9144000" cy="429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Negative</m:t>
                      </m:r>
                      <m: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Binomial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h𝑟𝑠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757" y="1932203"/>
                <a:ext cx="9144000" cy="429541"/>
              </a:xfrm>
              <a:prstGeom prst="rect">
                <a:avLst/>
              </a:prstGeom>
              <a:blipFill>
                <a:blip r:embed="rId6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5645266" y="2668335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10520" y="2862140"/>
            <a:ext cx="2781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  <a:p>
            <a:r>
              <a:rPr lang="en-US" dirty="0"/>
              <a:t>L = total fishing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3016" y="2355466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Seasonal mean CPUE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449759" y="1627561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98644" y="1302260"/>
            <a:ext cx="2079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angler catch (data)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787515" y="2676329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83683" y="2356837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daily CPUE residual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922395" y="1633678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01098" y="1320809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CPUE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848523" y="1620025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438925" y="1311176"/>
            <a:ext cx="3192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angler hours fished (data; used as offset)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5159878" y="3664204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82222" y="3418148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CPUE AR1 coefficient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233744" y="3664204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90885" y="3411816"/>
            <a:ext cx="17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CPUE process error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630935" y="4600954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539950" y="4370804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CPUE Process Error 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422439" y="6442565"/>
                <a:ext cx="9144000" cy="415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Poisson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39" y="6442565"/>
                <a:ext cx="9144000" cy="415435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4617397" y="6081039"/>
            <a:ext cx="0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29989" y="5776336"/>
            <a:ext cx="2335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Total catch (estimate)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246485" y="6120628"/>
            <a:ext cx="1" cy="36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71675" y="5796244"/>
            <a:ext cx="2073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daily CPUE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182059" y="6117646"/>
            <a:ext cx="2" cy="3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21448" y="5765100"/>
            <a:ext cx="3192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Total hours fished 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3367" y="5360031"/>
            <a:ext cx="3444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</a:rPr>
              <a:t>Catch</a:t>
            </a:r>
            <a:r>
              <a:rPr lang="en-US" sz="2800" dirty="0"/>
              <a:t> = Effort  X  CPUE</a:t>
            </a:r>
            <a:endParaRPr 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197442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340177" y="1142728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11629" y="1500692"/>
                <a:ext cx="9557658" cy="4154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ormal</m:t>
                      </m:r>
                      <m:d>
                        <m:dPr>
                          <m:ctrlP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9" y="1500692"/>
                <a:ext cx="9557658" cy="415435"/>
              </a:xfrm>
              <a:prstGeom prst="rect">
                <a:avLst/>
              </a:prstGeom>
              <a:blipFill>
                <a:blip r:embed="rId3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9634718" y="2862140"/>
            <a:ext cx="2557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day</a:t>
            </a:r>
          </a:p>
          <a:p>
            <a:r>
              <a:rPr lang="en-US" dirty="0"/>
              <a:t>g = gear type</a:t>
            </a:r>
          </a:p>
          <a:p>
            <a:r>
              <a:rPr lang="en-US" dirty="0"/>
              <a:t>s = section</a:t>
            </a:r>
          </a:p>
          <a:p>
            <a:r>
              <a:rPr lang="en-US" dirty="0"/>
              <a:t>a = angler group</a:t>
            </a:r>
          </a:p>
          <a:p>
            <a:r>
              <a:rPr lang="en-US" dirty="0"/>
              <a:t>i = specific hour of day</a:t>
            </a:r>
          </a:p>
          <a:p>
            <a:r>
              <a:rPr lang="en-US" dirty="0"/>
              <a:t>C = CPUE variable</a:t>
            </a:r>
          </a:p>
          <a:p>
            <a:r>
              <a:rPr lang="en-US" dirty="0"/>
              <a:t>E = Effort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07572" y="2109720"/>
                <a:ext cx="9144000" cy="412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𝑅𝑒𝑠𝑖𝑑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ormal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72" y="2109720"/>
                <a:ext cx="9144000" cy="412036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18458" y="2708440"/>
                <a:ext cx="9144000" cy="399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ormal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⁡(0.05)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58" y="2708440"/>
                <a:ext cx="9144000" cy="399148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07572" y="3223851"/>
                <a:ext cx="9144000" cy="397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µ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b="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ormal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⁡(10)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72" y="3223851"/>
                <a:ext cx="9144000" cy="397545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29342" y="3712586"/>
                <a:ext cx="9144000" cy="370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Uniform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42" y="3712586"/>
                <a:ext cx="9144000" cy="370230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183151" y="4174006"/>
                <a:ext cx="22363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Uniform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(−1,1)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151" y="4174006"/>
                <a:ext cx="2236381" cy="369332"/>
              </a:xfrm>
              <a:prstGeom prst="rect">
                <a:avLst/>
              </a:prstGeom>
              <a:blipFill>
                <a:blip r:embed="rId8"/>
                <a:stretch>
                  <a:fillRect l="-27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225708" y="4729178"/>
                <a:ext cx="1933543" cy="370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Cauchy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708" y="4729178"/>
                <a:ext cx="1933543" cy="370230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225708" y="5197613"/>
                <a:ext cx="19375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Cauchy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708" y="5197613"/>
                <a:ext cx="1937517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951116" y="5677134"/>
                <a:ext cx="2478755" cy="428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h𝑜𝑢𝑟</m:t>
                              </m:r>
                            </m:sup>
                          </m:sSup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Cauchy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116" y="5677134"/>
                <a:ext cx="2478755" cy="428964"/>
              </a:xfrm>
              <a:prstGeom prst="rect">
                <a:avLst/>
              </a:prstGeom>
              <a:blipFill>
                <a:blip r:embed="rId11"/>
                <a:stretch>
                  <a:fillRect l="-246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314532" y="6233204"/>
                <a:ext cx="1973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1~ 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Normal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532" y="6233204"/>
                <a:ext cx="1973617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949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2E8DC5201BA846851ED74C3E1B5852" ma:contentTypeVersion="11" ma:contentTypeDescription="Create a new document." ma:contentTypeScope="" ma:versionID="4fda3defcfeb6d1244c6136f96db2c76">
  <xsd:schema xmlns:xsd="http://www.w3.org/2001/XMLSchema" xmlns:xs="http://www.w3.org/2001/XMLSchema" xmlns:p="http://schemas.microsoft.com/office/2006/metadata/properties" xmlns:ns1="http://schemas.microsoft.com/sharepoint/v3" xmlns:ns2="9675aba4-d3b2-4750-a385-9de1110e9966" targetNamespace="http://schemas.microsoft.com/office/2006/metadata/properties" ma:root="true" ma:fieldsID="4ecd7dc06ce3a22b9b72c30878c236cf" ns1:_="" ns2:_="">
    <xsd:import namespace="http://schemas.microsoft.com/sharepoint/v3"/>
    <xsd:import namespace="9675aba4-d3b2-4750-a385-9de1110e99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75aba4-d3b2-4750-a385-9de1110e9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60a6a1c-50a4-4ec0-87e3-f00760ffe7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75aba4-d3b2-4750-a385-9de1110e9966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6BD2E9D-A388-4A7A-9382-C9772452743D}"/>
</file>

<file path=customXml/itemProps2.xml><?xml version="1.0" encoding="utf-8"?>
<ds:datastoreItem xmlns:ds="http://schemas.openxmlformats.org/officeDocument/2006/customXml" ds:itemID="{2B750E86-4D13-4DA6-AF66-C66CE5DAAFAA}"/>
</file>

<file path=customXml/itemProps3.xml><?xml version="1.0" encoding="utf-8"?>
<ds:datastoreItem xmlns:ds="http://schemas.openxmlformats.org/officeDocument/2006/customXml" ds:itemID="{B2A64F09-6FCF-4A10-ACA5-944EF750A720}"/>
</file>

<file path=docProps/app.xml><?xml version="1.0" encoding="utf-8"?>
<Properties xmlns="http://schemas.openxmlformats.org/officeDocument/2006/extended-properties" xmlns:vt="http://schemas.openxmlformats.org/officeDocument/2006/docPropsVTypes">
  <TotalTime>6230</TotalTime>
  <Words>1277</Words>
  <Application>Microsoft Office PowerPoint</Application>
  <PresentationFormat>Widescreen</PresentationFormat>
  <Paragraphs>292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Washington Dept of Fish &amp; Wildlife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Kale Bentley</dc:creator>
  <cp:lastModifiedBy>Booher, Evan (DFW)</cp:lastModifiedBy>
  <cp:revision>23</cp:revision>
  <dcterms:created xsi:type="dcterms:W3CDTF">2019-02-28T19:40:15Z</dcterms:created>
  <dcterms:modified xsi:type="dcterms:W3CDTF">2022-12-13T01:26:51Z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5011977-b912-4387-97a4-f4c94a801377_Enabled">
    <vt:lpwstr>true</vt:lpwstr>
  </property>
  <property fmtid="{D5CDD505-2E9C-101B-9397-08002B2CF9AE}" pid="3" name="MSIP_Label_45011977-b912-4387-97a4-f4c94a801377_SetDate">
    <vt:lpwstr>2022-12-13T01:26:40Z</vt:lpwstr>
  </property>
  <property fmtid="{D5CDD505-2E9C-101B-9397-08002B2CF9AE}" pid="4" name="MSIP_Label_45011977-b912-4387-97a4-f4c94a801377_Method">
    <vt:lpwstr>Standard</vt:lpwstr>
  </property>
  <property fmtid="{D5CDD505-2E9C-101B-9397-08002B2CF9AE}" pid="5" name="MSIP_Label_45011977-b912-4387-97a4-f4c94a801377_Name">
    <vt:lpwstr>Uncategorized Data</vt:lpwstr>
  </property>
  <property fmtid="{D5CDD505-2E9C-101B-9397-08002B2CF9AE}" pid="6" name="MSIP_Label_45011977-b912-4387-97a4-f4c94a801377_SiteId">
    <vt:lpwstr>11d0e217-264e-400a-8ba0-57dcc127d72d</vt:lpwstr>
  </property>
  <property fmtid="{D5CDD505-2E9C-101B-9397-08002B2CF9AE}" pid="7" name="MSIP_Label_45011977-b912-4387-97a4-f4c94a801377_ActionId">
    <vt:lpwstr>34a9e553-294e-4dce-abc4-e700661b71fa</vt:lpwstr>
  </property>
  <property fmtid="{D5CDD505-2E9C-101B-9397-08002B2CF9AE}" pid="8" name="MSIP_Label_45011977-b912-4387-97a4-f4c94a801377_ContentBits">
    <vt:lpwstr>0</vt:lpwstr>
  </property>
  <property fmtid="{D5CDD505-2E9C-101B-9397-08002B2CF9AE}" pid="9" name="ContentTypeId">
    <vt:lpwstr>0x010100812E8DC5201BA846851ED74C3E1B5852</vt:lpwstr>
  </property>
  <property fmtid="{D5CDD505-2E9C-101B-9397-08002B2CF9AE}" pid="10" name="Order">
    <vt:r8>2403000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